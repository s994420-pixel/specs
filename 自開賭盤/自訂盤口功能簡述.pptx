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61" r:id="rId2"/>
    <p:sldId id="262" r:id="rId3"/>
    <p:sldId id="260" r:id="rId4"/>
    <p:sldId id="256" r:id="rId5"/>
    <p:sldId id="264" r:id="rId6"/>
    <p:sldId id="265" r:id="rId7"/>
    <p:sldId id="266" r:id="rId8"/>
    <p:sldId id="259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563E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中等深淺樣式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中等深淺樣式 2 - 輔色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3" d="100"/>
          <a:sy n="113" d="100"/>
        </p:scale>
        <p:origin x="586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694017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957152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036814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74566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556260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946556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Shape 39"/>
          <p:cNvSpPr/>
          <p:nvPr/>
        </p:nvSpPr>
        <p:spPr>
          <a:xfrm>
            <a:off x="438913" y="1253067"/>
            <a:ext cx="45719" cy="305409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111111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438912" y="0"/>
            <a:ext cx="640080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自訂盤口功能設計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8046720" y="0"/>
            <a:ext cx="82296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92500"/>
          </a:bodyPr>
          <a:lstStyle/>
          <a:p>
            <a:r>
              <a:t>01 / 05</a:t>
            </a:r>
          </a:p>
        </p:txBody>
      </p:sp>
      <p:sp>
        <p:nvSpPr>
          <p:cNvPr id="19" name="Shape 17"/>
          <p:cNvSpPr/>
          <p:nvPr/>
        </p:nvSpPr>
        <p:spPr>
          <a:xfrm>
            <a:off x="4480560" y="658368"/>
            <a:ext cx="18288" cy="4206240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20" name="Text 18"/>
          <p:cNvSpPr/>
          <p:nvPr/>
        </p:nvSpPr>
        <p:spPr>
          <a:xfrm>
            <a:off x="310896" y="686139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站長建立盤口流程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66344" y="1344507"/>
            <a:ext cx="18288" cy="329184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22" name="Shape 20"/>
          <p:cNvSpPr/>
          <p:nvPr/>
        </p:nvSpPr>
        <p:spPr>
          <a:xfrm>
            <a:off x="310896" y="1033611"/>
            <a:ext cx="310896" cy="310896"/>
          </a:xfrm>
          <a:prstGeom prst="ellipse">
            <a:avLst/>
          </a:prstGeom>
          <a:solidFill>
            <a:srgbClr val="111111"/>
          </a:solidFill>
          <a:ln w="19050">
            <a:solidFill>
              <a:srgbClr val="11111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10896" y="1033611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31520" y="1019980"/>
            <a:ext cx="37490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85000" lnSpcReduction="20000"/>
          </a:bodyPr>
          <a:lstStyle/>
          <a:p>
            <a:r>
              <a:rPr lang="zh-TW" altLang="en-US" sz="1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時間設定與盤口屬性</a:t>
            </a:r>
            <a:endParaRPr lang="en-US" altLang="zh-TW" sz="1200" dirty="0"/>
          </a:p>
        </p:txBody>
      </p:sp>
      <p:sp>
        <p:nvSpPr>
          <p:cNvPr id="25" name="Text 23"/>
          <p:cNvSpPr/>
          <p:nvPr/>
        </p:nvSpPr>
        <p:spPr>
          <a:xfrm>
            <a:off x="731520" y="1239436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77500" lnSpcReduction="20000"/>
          </a:bodyPr>
          <a:lstStyle/>
          <a:p>
            <a:r>
              <a:rPr lang="zh-TW" alt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開盤時間、封盤時間、分類、派獎錢包</a:t>
            </a:r>
            <a:endParaRPr lang="en-US" altLang="zh-TW" sz="1000" dirty="0"/>
          </a:p>
        </p:txBody>
      </p:sp>
      <p:sp>
        <p:nvSpPr>
          <p:cNvPr id="26" name="Shape 24"/>
          <p:cNvSpPr/>
          <p:nvPr/>
        </p:nvSpPr>
        <p:spPr>
          <a:xfrm>
            <a:off x="466344" y="2002875"/>
            <a:ext cx="18288" cy="329184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27" name="Shape 25"/>
          <p:cNvSpPr/>
          <p:nvPr/>
        </p:nvSpPr>
        <p:spPr>
          <a:xfrm>
            <a:off x="310896" y="1583611"/>
            <a:ext cx="310896" cy="31089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1111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20040" y="1600539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731520" y="1541103"/>
            <a:ext cx="37490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85000" lnSpcReduction="20000"/>
          </a:bodyPr>
          <a:lstStyle/>
          <a:p>
            <a:r>
              <a:rPr lang="zh-TW" altLang="en-US" sz="1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基本資料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731520" y="1760559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77500" lnSpcReduction="20000"/>
          </a:bodyPr>
          <a:lstStyle/>
          <a:p>
            <a:r>
              <a:rPr lang="zh-TW" alt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盤口名稱、題目、廣宣</a:t>
            </a:r>
            <a:endParaRPr lang="en-US" altLang="zh-TW" sz="1000" dirty="0"/>
          </a:p>
        </p:txBody>
      </p:sp>
      <p:sp>
        <p:nvSpPr>
          <p:cNvPr id="31" name="Shape 29"/>
          <p:cNvSpPr/>
          <p:nvPr/>
        </p:nvSpPr>
        <p:spPr>
          <a:xfrm>
            <a:off x="466344" y="2661243"/>
            <a:ext cx="18288" cy="329184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32" name="Shape 30"/>
          <p:cNvSpPr/>
          <p:nvPr/>
        </p:nvSpPr>
        <p:spPr>
          <a:xfrm>
            <a:off x="310896" y="2121922"/>
            <a:ext cx="310896" cy="31089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1111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20040" y="212564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79028" y="2082885"/>
            <a:ext cx="37490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85000" lnSpcReduction="20000"/>
          </a:bodyPr>
          <a:lstStyle/>
          <a:p>
            <a:r>
              <a:rPr lang="zh-TW" altLang="en-US" sz="1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賠率變動設定</a:t>
            </a:r>
            <a:endParaRPr lang="en-US" altLang="zh-TW" sz="1200" b="1" dirty="0">
              <a:solidFill>
                <a:srgbClr val="111111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35" name="Text 33"/>
          <p:cNvSpPr/>
          <p:nvPr/>
        </p:nvSpPr>
        <p:spPr>
          <a:xfrm>
            <a:off x="679028" y="2302341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77500" lnSpcReduction="20000"/>
          </a:bodyPr>
          <a:lstStyle/>
          <a:p>
            <a:r>
              <a:rPr lang="zh-TW" alt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變動依據、抽水</a:t>
            </a:r>
            <a:endParaRPr lang="en-US" altLang="zh-TW" sz="1000" dirty="0"/>
          </a:p>
        </p:txBody>
      </p:sp>
      <p:sp>
        <p:nvSpPr>
          <p:cNvPr id="36" name="Shape 34"/>
          <p:cNvSpPr/>
          <p:nvPr/>
        </p:nvSpPr>
        <p:spPr>
          <a:xfrm>
            <a:off x="466344" y="3319611"/>
            <a:ext cx="18288" cy="329184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37" name="Shape 35"/>
          <p:cNvSpPr/>
          <p:nvPr/>
        </p:nvSpPr>
        <p:spPr>
          <a:xfrm>
            <a:off x="326475" y="2661243"/>
            <a:ext cx="310896" cy="31089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1111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14283" y="2657519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679028" y="3145875"/>
            <a:ext cx="37490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85000" lnSpcReduction="20000"/>
          </a:bodyPr>
          <a:lstStyle/>
          <a:p>
            <a:pPr marL="0" indent="0">
              <a:buNone/>
            </a:pPr>
            <a:r>
              <a:rPr lang="zh-TW" altLang="en-US" sz="1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下注上下限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320040" y="3164163"/>
            <a:ext cx="310896" cy="31089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11111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20040" y="318109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679028" y="2622381"/>
            <a:ext cx="37490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85000" lnSpcReduction="20000"/>
          </a:bodyPr>
          <a:lstStyle/>
          <a:p>
            <a:pPr marL="0" indent="0">
              <a:buNone/>
            </a:pPr>
            <a:r>
              <a:rPr lang="zh-TW" altLang="en-US" sz="1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賠率與選項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679028" y="2841837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77500" lnSpcReduction="20000"/>
          </a:bodyPr>
          <a:lstStyle/>
          <a:p>
            <a:pPr marL="0" indent="0">
              <a:buNone/>
            </a:pPr>
            <a:r>
              <a:rPr lang="zh-TW" alt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題目類型與選項設定、初始賠率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299381" y="3702644"/>
            <a:ext cx="310896" cy="31089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11111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06154" y="370975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670560" y="4268470"/>
            <a:ext cx="37490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85000" lnSpcReduction="20000"/>
          </a:bodyPr>
          <a:lstStyle/>
          <a:p>
            <a:pPr marL="0" indent="0">
              <a:buNone/>
            </a:pPr>
            <a:r>
              <a:rPr lang="zh-TW" altLang="en-US" sz="1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風控設定</a:t>
            </a:r>
            <a:endParaRPr lang="en-US" sz="1200" dirty="0"/>
          </a:p>
        </p:txBody>
      </p:sp>
      <p:sp>
        <p:nvSpPr>
          <p:cNvPr id="52" name="Text 37">
            <a:extLst>
              <a:ext uri="{FF2B5EF4-FFF2-40B4-BE49-F238E27FC236}">
                <a16:creationId xmlns:a16="http://schemas.microsoft.com/office/drawing/2014/main" id="{15EFA22B-F50D-4D38-BDD3-B878924E95F0}"/>
              </a:ext>
            </a:extLst>
          </p:cNvPr>
          <p:cNvSpPr/>
          <p:nvPr/>
        </p:nvSpPr>
        <p:spPr>
          <a:xfrm>
            <a:off x="670560" y="3731006"/>
            <a:ext cx="37490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85000" lnSpcReduction="20000"/>
          </a:bodyPr>
          <a:lstStyle/>
          <a:p>
            <a:pPr marL="0" indent="0">
              <a:buNone/>
            </a:pPr>
            <a:r>
              <a:rPr lang="zh-TW" altLang="en-US" sz="1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結算規則</a:t>
            </a:r>
            <a:endParaRPr lang="en-US" sz="1200" dirty="0"/>
          </a:p>
        </p:txBody>
      </p:sp>
      <p:sp>
        <p:nvSpPr>
          <p:cNvPr id="53" name="Text 38">
            <a:extLst>
              <a:ext uri="{FF2B5EF4-FFF2-40B4-BE49-F238E27FC236}">
                <a16:creationId xmlns:a16="http://schemas.microsoft.com/office/drawing/2014/main" id="{C5ED2F11-56CF-4E37-880B-7FC19E88BBC6}"/>
              </a:ext>
            </a:extLst>
          </p:cNvPr>
          <p:cNvSpPr/>
          <p:nvPr/>
        </p:nvSpPr>
        <p:spPr>
          <a:xfrm>
            <a:off x="676656" y="3968750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77500" lnSpcReduction="20000"/>
          </a:bodyPr>
          <a:lstStyle/>
          <a:p>
            <a:pPr marL="0" indent="0">
              <a:buNone/>
            </a:pPr>
            <a:r>
              <a:rPr lang="zh-TW" alt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是否啟用二次判定期</a:t>
            </a:r>
            <a:endParaRPr lang="en-US" sz="1000" dirty="0"/>
          </a:p>
        </p:txBody>
      </p:sp>
      <p:sp>
        <p:nvSpPr>
          <p:cNvPr id="54" name="Shape 44">
            <a:extLst>
              <a:ext uri="{FF2B5EF4-FFF2-40B4-BE49-F238E27FC236}">
                <a16:creationId xmlns:a16="http://schemas.microsoft.com/office/drawing/2014/main" id="{8525E316-CBA6-45A4-933B-0DB1422B72D3}"/>
              </a:ext>
            </a:extLst>
          </p:cNvPr>
          <p:cNvSpPr/>
          <p:nvPr/>
        </p:nvSpPr>
        <p:spPr>
          <a:xfrm>
            <a:off x="308187" y="4243155"/>
            <a:ext cx="310896" cy="31089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11111"/>
            </a:solidFill>
            <a:prstDash val="solid"/>
          </a:ln>
        </p:spPr>
      </p:sp>
      <p:sp>
        <p:nvSpPr>
          <p:cNvPr id="57" name="Text 45">
            <a:extLst>
              <a:ext uri="{FF2B5EF4-FFF2-40B4-BE49-F238E27FC236}">
                <a16:creationId xmlns:a16="http://schemas.microsoft.com/office/drawing/2014/main" id="{104A592B-6168-43FD-83CA-7673729FBD21}"/>
              </a:ext>
            </a:extLst>
          </p:cNvPr>
          <p:cNvSpPr/>
          <p:nvPr/>
        </p:nvSpPr>
        <p:spPr>
          <a:xfrm>
            <a:off x="295318" y="4248235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altLang="zh-TW" sz="11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  <p:sp>
        <p:nvSpPr>
          <p:cNvPr id="55" name="Text 18">
            <a:extLst>
              <a:ext uri="{FF2B5EF4-FFF2-40B4-BE49-F238E27FC236}">
                <a16:creationId xmlns:a16="http://schemas.microsoft.com/office/drawing/2014/main" id="{C502AA20-DE80-40F4-A998-269ED2AFCEFF}"/>
              </a:ext>
            </a:extLst>
          </p:cNvPr>
          <p:cNvSpPr/>
          <p:nvPr/>
        </p:nvSpPr>
        <p:spPr>
          <a:xfrm>
            <a:off x="4578096" y="689282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zh-TW" altLang="en-US" sz="1000" b="1" kern="0" spc="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關鍵設定</a:t>
            </a:r>
            <a:endParaRPr lang="en-US" sz="1000" dirty="0"/>
          </a:p>
        </p:txBody>
      </p:sp>
      <p:sp>
        <p:nvSpPr>
          <p:cNvPr id="66" name="Shape 18">
            <a:extLst>
              <a:ext uri="{FF2B5EF4-FFF2-40B4-BE49-F238E27FC236}">
                <a16:creationId xmlns:a16="http://schemas.microsoft.com/office/drawing/2014/main" id="{9B690FF5-2125-4F55-84A7-A3967DA66F89}"/>
              </a:ext>
            </a:extLst>
          </p:cNvPr>
          <p:cNvSpPr/>
          <p:nvPr/>
        </p:nvSpPr>
        <p:spPr>
          <a:xfrm>
            <a:off x="4633299" y="964947"/>
            <a:ext cx="4151376" cy="622751"/>
          </a:xfrm>
          <a:prstGeom prst="roundRect">
            <a:avLst>
              <a:gd name="adj" fmla="val 8889"/>
            </a:avLst>
          </a:prstGeom>
          <a:solidFill>
            <a:srgbClr val="F9FAFB"/>
          </a:solidFill>
          <a:ln/>
          <a:effectLst>
            <a:outerShdw blurRad="76200" dist="12700" dir="2700000" algn="bl" rotWithShape="0">
              <a:srgbClr val="000000">
                <a:alpha val="7000"/>
              </a:srgbClr>
            </a:outerShdw>
          </a:effectLst>
        </p:spPr>
      </p:sp>
      <p:sp>
        <p:nvSpPr>
          <p:cNvPr id="67" name="Text 19">
            <a:extLst>
              <a:ext uri="{FF2B5EF4-FFF2-40B4-BE49-F238E27FC236}">
                <a16:creationId xmlns:a16="http://schemas.microsoft.com/office/drawing/2014/main" id="{125FAA44-545E-458F-95D5-7326B6CEA078}"/>
              </a:ext>
            </a:extLst>
          </p:cNvPr>
          <p:cNvSpPr/>
          <p:nvPr/>
        </p:nvSpPr>
        <p:spPr>
          <a:xfrm>
            <a:off x="4672585" y="1023052"/>
            <a:ext cx="3785616" cy="246888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zh-TW" altLang="en-US" sz="1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盤口分類</a:t>
            </a:r>
            <a:endParaRPr lang="en-US" sz="1200" dirty="0"/>
          </a:p>
        </p:txBody>
      </p:sp>
      <p:sp>
        <p:nvSpPr>
          <p:cNvPr id="71" name="Text 20">
            <a:extLst>
              <a:ext uri="{FF2B5EF4-FFF2-40B4-BE49-F238E27FC236}">
                <a16:creationId xmlns:a16="http://schemas.microsoft.com/office/drawing/2014/main" id="{E72FD82E-062A-4051-BACB-EDE5BCB8FC33}"/>
              </a:ext>
            </a:extLst>
          </p:cNvPr>
          <p:cNvSpPr/>
          <p:nvPr/>
        </p:nvSpPr>
        <p:spPr>
          <a:xfrm>
            <a:off x="4681729" y="1269576"/>
            <a:ext cx="4151375" cy="26876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zh-TW" altLang="en-US" sz="105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後台自訂盤口分類</a:t>
            </a:r>
            <a:r>
              <a:rPr lang="en-US" altLang="zh-TW" sz="105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&gt;&gt;</a:t>
            </a:r>
            <a:r>
              <a:rPr lang="zh-TW" altLang="en-US" sz="105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顯示會員端</a:t>
            </a:r>
            <a:endParaRPr lang="en-US" sz="105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60" name="Text 23">
            <a:extLst>
              <a:ext uri="{FF2B5EF4-FFF2-40B4-BE49-F238E27FC236}">
                <a16:creationId xmlns:a16="http://schemas.microsoft.com/office/drawing/2014/main" id="{A6974CB7-7C5A-49B4-AF9D-9626129EC418}"/>
              </a:ext>
            </a:extLst>
          </p:cNvPr>
          <p:cNvSpPr/>
          <p:nvPr/>
        </p:nvSpPr>
        <p:spPr>
          <a:xfrm>
            <a:off x="1615440" y="729300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77500" lnSpcReduction="20000"/>
          </a:bodyPr>
          <a:lstStyle/>
          <a:p>
            <a:pPr marL="0" indent="0">
              <a:buNone/>
            </a:pPr>
            <a:r>
              <a:rPr lang="zh-TW" altLang="en-US" sz="1000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需另做基礎獨立分類、匯率設定</a:t>
            </a:r>
            <a:endParaRPr lang="en-US" altLang="zh-TW" sz="1000" dirty="0">
              <a:solidFill>
                <a:srgbClr val="FF0000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63" name="Text 43">
            <a:extLst>
              <a:ext uri="{FF2B5EF4-FFF2-40B4-BE49-F238E27FC236}">
                <a16:creationId xmlns:a16="http://schemas.microsoft.com/office/drawing/2014/main" id="{CC3EE605-6A0F-4ECA-8956-3CB2CE143938}"/>
              </a:ext>
            </a:extLst>
          </p:cNvPr>
          <p:cNvSpPr/>
          <p:nvPr/>
        </p:nvSpPr>
        <p:spPr>
          <a:xfrm>
            <a:off x="675302" y="3337560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77500" lnSpcReduction="20000"/>
          </a:bodyPr>
          <a:lstStyle/>
          <a:p>
            <a:pPr marL="0" indent="0">
              <a:buNone/>
            </a:pPr>
            <a:r>
              <a:rPr lang="zh-TW" alt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基準幣別、最低</a:t>
            </a:r>
            <a:r>
              <a:rPr lang="en-US" altLang="zh-TW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</a:t>
            </a:r>
            <a:r>
              <a:rPr lang="zh-TW" alt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高下注額度</a:t>
            </a:r>
            <a:endParaRPr lang="en-US" sz="1000" dirty="0"/>
          </a:p>
        </p:txBody>
      </p:sp>
      <p:sp>
        <p:nvSpPr>
          <p:cNvPr id="65" name="Text 38">
            <a:extLst>
              <a:ext uri="{FF2B5EF4-FFF2-40B4-BE49-F238E27FC236}">
                <a16:creationId xmlns:a16="http://schemas.microsoft.com/office/drawing/2014/main" id="{09D953B6-C99F-40FB-835B-EF52EB971A5A}"/>
              </a:ext>
            </a:extLst>
          </p:cNvPr>
          <p:cNvSpPr/>
          <p:nvPr/>
        </p:nvSpPr>
        <p:spPr>
          <a:xfrm>
            <a:off x="679028" y="4458547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77500" lnSpcReduction="20000"/>
          </a:bodyPr>
          <a:lstStyle/>
          <a:p>
            <a:pPr marL="0" indent="0">
              <a:buNone/>
            </a:pPr>
            <a:r>
              <a:rPr lang="zh-TW" alt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阻擋會員</a:t>
            </a:r>
            <a:r>
              <a:rPr lang="en-US" sz="1000" dirty="0" err="1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標籤、黑名單</a:t>
            </a: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、</a:t>
            </a:r>
            <a:r>
              <a:rPr lang="zh-TW" alt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阻擋指定</a:t>
            </a: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</a:t>
            </a:r>
            <a:r>
              <a:rPr lang="zh-TW" alt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投注</a:t>
            </a: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、</a:t>
            </a:r>
            <a:r>
              <a:rPr lang="zh-TW" alt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同</a:t>
            </a:r>
            <a:r>
              <a:rPr lang="en-US" altLang="zh-TW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</a:t>
            </a:r>
            <a:r>
              <a:rPr lang="zh-TW" alt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重複投注風控</a:t>
            </a:r>
            <a:endParaRPr lang="en-US" sz="1000" dirty="0"/>
          </a:p>
        </p:txBody>
      </p:sp>
      <p:sp>
        <p:nvSpPr>
          <p:cNvPr id="69" name="Shape 18">
            <a:extLst>
              <a:ext uri="{FF2B5EF4-FFF2-40B4-BE49-F238E27FC236}">
                <a16:creationId xmlns:a16="http://schemas.microsoft.com/office/drawing/2014/main" id="{9666B062-CA38-4C14-B350-D1C97DE4ED11}"/>
              </a:ext>
            </a:extLst>
          </p:cNvPr>
          <p:cNvSpPr/>
          <p:nvPr/>
        </p:nvSpPr>
        <p:spPr>
          <a:xfrm>
            <a:off x="4654298" y="2567913"/>
            <a:ext cx="4151376" cy="622751"/>
          </a:xfrm>
          <a:prstGeom prst="roundRect">
            <a:avLst>
              <a:gd name="adj" fmla="val 8889"/>
            </a:avLst>
          </a:prstGeom>
          <a:solidFill>
            <a:srgbClr val="F9FAFB"/>
          </a:solidFill>
          <a:ln/>
          <a:effectLst>
            <a:outerShdw blurRad="76200" dist="12700" dir="2700000" algn="bl" rotWithShape="0">
              <a:srgbClr val="000000">
                <a:alpha val="7000"/>
              </a:srgbClr>
            </a:outerShdw>
          </a:effectLst>
        </p:spPr>
      </p:sp>
      <p:sp>
        <p:nvSpPr>
          <p:cNvPr id="70" name="Text 19">
            <a:extLst>
              <a:ext uri="{FF2B5EF4-FFF2-40B4-BE49-F238E27FC236}">
                <a16:creationId xmlns:a16="http://schemas.microsoft.com/office/drawing/2014/main" id="{5074852E-E497-4D2A-AC8D-872E81911527}"/>
              </a:ext>
            </a:extLst>
          </p:cNvPr>
          <p:cNvSpPr/>
          <p:nvPr/>
        </p:nvSpPr>
        <p:spPr>
          <a:xfrm>
            <a:off x="4693584" y="2626018"/>
            <a:ext cx="3785616" cy="246888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zh-TW" altLang="en-US" sz="1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變動賠率</a:t>
            </a:r>
            <a:endParaRPr lang="en-US" sz="1200" dirty="0"/>
          </a:p>
        </p:txBody>
      </p:sp>
      <p:sp>
        <p:nvSpPr>
          <p:cNvPr id="76" name="Text 20">
            <a:extLst>
              <a:ext uri="{FF2B5EF4-FFF2-40B4-BE49-F238E27FC236}">
                <a16:creationId xmlns:a16="http://schemas.microsoft.com/office/drawing/2014/main" id="{0E8C5C40-F75C-45D3-B63E-834A97565ABF}"/>
              </a:ext>
            </a:extLst>
          </p:cNvPr>
          <p:cNvSpPr/>
          <p:nvPr/>
        </p:nvSpPr>
        <p:spPr>
          <a:xfrm>
            <a:off x="4702728" y="2872542"/>
            <a:ext cx="4151375" cy="26876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zh-TW" altLang="en-US" sz="105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賠率會依照當下投注人數或投注金額即時變動 </a:t>
            </a:r>
            <a:r>
              <a:rPr lang="en-US" altLang="zh-TW" sz="105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&gt;&gt;</a:t>
            </a:r>
            <a:r>
              <a:rPr lang="zh-TW" altLang="en-US" sz="105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會員投注會鎖定</a:t>
            </a:r>
            <a:endParaRPr lang="en-US" sz="105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77" name="Shape 18">
            <a:extLst>
              <a:ext uri="{FF2B5EF4-FFF2-40B4-BE49-F238E27FC236}">
                <a16:creationId xmlns:a16="http://schemas.microsoft.com/office/drawing/2014/main" id="{71347AB5-6A87-4B50-A421-4B758B39CB64}"/>
              </a:ext>
            </a:extLst>
          </p:cNvPr>
          <p:cNvSpPr/>
          <p:nvPr/>
        </p:nvSpPr>
        <p:spPr>
          <a:xfrm>
            <a:off x="4645154" y="1778161"/>
            <a:ext cx="4151376" cy="622751"/>
          </a:xfrm>
          <a:prstGeom prst="roundRect">
            <a:avLst>
              <a:gd name="adj" fmla="val 8889"/>
            </a:avLst>
          </a:prstGeom>
          <a:solidFill>
            <a:srgbClr val="F9FAFB"/>
          </a:solidFill>
          <a:ln/>
          <a:effectLst>
            <a:outerShdw blurRad="76200" dist="12700" dir="2700000" algn="bl" rotWithShape="0">
              <a:srgbClr val="000000">
                <a:alpha val="7000"/>
              </a:srgbClr>
            </a:outerShdw>
          </a:effectLst>
        </p:spPr>
      </p:sp>
      <p:sp>
        <p:nvSpPr>
          <p:cNvPr id="78" name="Text 19">
            <a:extLst>
              <a:ext uri="{FF2B5EF4-FFF2-40B4-BE49-F238E27FC236}">
                <a16:creationId xmlns:a16="http://schemas.microsoft.com/office/drawing/2014/main" id="{FE92A7EF-389A-49F3-A9B7-8228B1CE8538}"/>
              </a:ext>
            </a:extLst>
          </p:cNvPr>
          <p:cNvSpPr/>
          <p:nvPr/>
        </p:nvSpPr>
        <p:spPr>
          <a:xfrm>
            <a:off x="4684440" y="1836266"/>
            <a:ext cx="3785616" cy="246888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92500" lnSpcReduction="10000"/>
          </a:bodyPr>
          <a:lstStyle/>
          <a:p>
            <a:r>
              <a:rPr lang="zh-TW" altLang="en-US" sz="1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匯率設定</a:t>
            </a:r>
            <a:endParaRPr lang="en-US" altLang="zh-TW" sz="1200" dirty="0"/>
          </a:p>
        </p:txBody>
      </p:sp>
      <p:sp>
        <p:nvSpPr>
          <p:cNvPr id="79" name="Text 20">
            <a:extLst>
              <a:ext uri="{FF2B5EF4-FFF2-40B4-BE49-F238E27FC236}">
                <a16:creationId xmlns:a16="http://schemas.microsoft.com/office/drawing/2014/main" id="{FA728D8D-5EC7-4A0B-8BD6-FCDB624EACEB}"/>
              </a:ext>
            </a:extLst>
          </p:cNvPr>
          <p:cNvSpPr/>
          <p:nvPr/>
        </p:nvSpPr>
        <p:spPr>
          <a:xfrm>
            <a:off x="4693584" y="2082790"/>
            <a:ext cx="4151375" cy="26876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zh-TW" altLang="en-US" sz="105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自訂盤口投注基準幣匯率</a:t>
            </a:r>
            <a:r>
              <a:rPr lang="en-US" altLang="zh-TW" sz="105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&gt;&gt;</a:t>
            </a:r>
            <a:r>
              <a:rPr lang="zh-TW" altLang="en-US" sz="105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統一多幣別投注數據計算</a:t>
            </a:r>
            <a:endParaRPr lang="en-US" altLang="zh-TW" sz="105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80" name="Shape 18">
            <a:extLst>
              <a:ext uri="{FF2B5EF4-FFF2-40B4-BE49-F238E27FC236}">
                <a16:creationId xmlns:a16="http://schemas.microsoft.com/office/drawing/2014/main" id="{AFFB5428-CCB4-4086-BAD2-F0F8D8B0C767}"/>
              </a:ext>
            </a:extLst>
          </p:cNvPr>
          <p:cNvSpPr/>
          <p:nvPr/>
        </p:nvSpPr>
        <p:spPr>
          <a:xfrm>
            <a:off x="4654298" y="3404944"/>
            <a:ext cx="4151376" cy="622751"/>
          </a:xfrm>
          <a:prstGeom prst="roundRect">
            <a:avLst>
              <a:gd name="adj" fmla="val 8889"/>
            </a:avLst>
          </a:prstGeom>
          <a:solidFill>
            <a:srgbClr val="F9FAFB"/>
          </a:solidFill>
          <a:ln/>
          <a:effectLst>
            <a:outerShdw blurRad="76200" dist="12700" dir="2700000" algn="bl" rotWithShape="0">
              <a:srgbClr val="000000">
                <a:alpha val="7000"/>
              </a:srgbClr>
            </a:outerShdw>
          </a:effectLst>
        </p:spPr>
      </p:sp>
      <p:sp>
        <p:nvSpPr>
          <p:cNvPr id="81" name="Text 19">
            <a:extLst>
              <a:ext uri="{FF2B5EF4-FFF2-40B4-BE49-F238E27FC236}">
                <a16:creationId xmlns:a16="http://schemas.microsoft.com/office/drawing/2014/main" id="{F6835B92-DC10-4C36-AEBB-740291947140}"/>
              </a:ext>
            </a:extLst>
          </p:cNvPr>
          <p:cNvSpPr/>
          <p:nvPr/>
        </p:nvSpPr>
        <p:spPr>
          <a:xfrm>
            <a:off x="4693584" y="3463049"/>
            <a:ext cx="3785616" cy="246888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zh-TW" altLang="en-US" sz="1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自訂題型</a:t>
            </a:r>
            <a:endParaRPr lang="en-US" sz="1200" dirty="0"/>
          </a:p>
        </p:txBody>
      </p:sp>
      <p:sp>
        <p:nvSpPr>
          <p:cNvPr id="82" name="Text 20">
            <a:extLst>
              <a:ext uri="{FF2B5EF4-FFF2-40B4-BE49-F238E27FC236}">
                <a16:creationId xmlns:a16="http://schemas.microsoft.com/office/drawing/2014/main" id="{D484D8F8-C557-40B7-8E34-20D4B6621B18}"/>
              </a:ext>
            </a:extLst>
          </p:cNvPr>
          <p:cNvSpPr/>
          <p:nvPr/>
        </p:nvSpPr>
        <p:spPr>
          <a:xfrm>
            <a:off x="4702728" y="3709573"/>
            <a:ext cx="4151375" cy="26876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zh-TW" altLang="en-US" sz="105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依喜好選擇題型或增加投注選項</a:t>
            </a:r>
            <a:endParaRPr lang="en-US" sz="105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83" name="Shape 18">
            <a:extLst>
              <a:ext uri="{FF2B5EF4-FFF2-40B4-BE49-F238E27FC236}">
                <a16:creationId xmlns:a16="http://schemas.microsoft.com/office/drawing/2014/main" id="{C54E9452-13BB-4B23-9ACF-718E6A395E8F}"/>
              </a:ext>
            </a:extLst>
          </p:cNvPr>
          <p:cNvSpPr/>
          <p:nvPr/>
        </p:nvSpPr>
        <p:spPr>
          <a:xfrm>
            <a:off x="4648538" y="4220097"/>
            <a:ext cx="4151376" cy="622751"/>
          </a:xfrm>
          <a:prstGeom prst="roundRect">
            <a:avLst>
              <a:gd name="adj" fmla="val 8889"/>
            </a:avLst>
          </a:prstGeom>
          <a:solidFill>
            <a:srgbClr val="F9FAFB"/>
          </a:solidFill>
          <a:ln/>
          <a:effectLst>
            <a:outerShdw blurRad="76200" dist="12700" dir="27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zh-TW" altLang="en-US" dirty="0"/>
          </a:p>
        </p:txBody>
      </p:sp>
      <p:sp>
        <p:nvSpPr>
          <p:cNvPr id="84" name="Text 19">
            <a:extLst>
              <a:ext uri="{FF2B5EF4-FFF2-40B4-BE49-F238E27FC236}">
                <a16:creationId xmlns:a16="http://schemas.microsoft.com/office/drawing/2014/main" id="{67000CC0-0984-4D44-8454-B5C95E521C01}"/>
              </a:ext>
            </a:extLst>
          </p:cNvPr>
          <p:cNvSpPr/>
          <p:nvPr/>
        </p:nvSpPr>
        <p:spPr>
          <a:xfrm>
            <a:off x="4687824" y="4278202"/>
            <a:ext cx="3785616" cy="246888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zh-TW" altLang="en-US" sz="1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結算規則</a:t>
            </a:r>
            <a:endParaRPr lang="en-US" sz="1200" dirty="0"/>
          </a:p>
        </p:txBody>
      </p:sp>
      <p:sp>
        <p:nvSpPr>
          <p:cNvPr id="85" name="Text 20">
            <a:extLst>
              <a:ext uri="{FF2B5EF4-FFF2-40B4-BE49-F238E27FC236}">
                <a16:creationId xmlns:a16="http://schemas.microsoft.com/office/drawing/2014/main" id="{916D288C-F7BA-4869-A744-A278EAA8E82B}"/>
              </a:ext>
            </a:extLst>
          </p:cNvPr>
          <p:cNvSpPr/>
          <p:nvPr/>
        </p:nvSpPr>
        <p:spPr>
          <a:xfrm>
            <a:off x="4696968" y="4524726"/>
            <a:ext cx="4151375" cy="26876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zh-TW" altLang="en-US" sz="105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可自行啟動二次判定期</a:t>
            </a:r>
            <a:r>
              <a:rPr lang="en-US" altLang="zh-TW" sz="105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&gt;&gt;</a:t>
            </a:r>
            <a:r>
              <a:rPr lang="zh-TW" altLang="en-US" sz="105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降低輸入錯誤賽果機率</a:t>
            </a:r>
            <a:endParaRPr lang="en-US" sz="105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7926520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21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4572000" cy="384048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 fontScale="92500" lnSpcReduction="10000"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Microsoft JhengHei"/>
              </a:rPr>
              <a:t>基準幣別與匯率設定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19872" y="155448"/>
            <a:ext cx="731520" cy="22860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 fontScale="55000" lnSpcReduction="20000"/>
          </a:bodyPr>
          <a:lstStyle/>
          <a:p>
            <a:r>
              <a:t>02 / 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896112"/>
            <a:ext cx="3749039" cy="256032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 fontScale="92500" lnSpcReduction="20000"/>
          </a:bodyPr>
          <a:lstStyle/>
          <a:p>
            <a:pPr algn="l"/>
            <a:r>
              <a:rPr sz="1400" b="1">
                <a:solidFill>
                  <a:srgbClr val="64748B"/>
                </a:solidFill>
                <a:latin typeface="Microsoft JhengHei"/>
              </a:rPr>
              <a:t>為什麼要有基準幣別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" y="1188720"/>
            <a:ext cx="3886200" cy="50292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 fontScale="92500"/>
          </a:bodyPr>
          <a:lstStyle/>
          <a:p>
            <a:pPr algn="l"/>
            <a:r>
              <a:rPr sz="1300" b="0">
                <a:solidFill>
                  <a:srgbClr val="1F2937"/>
                </a:solidFill>
                <a:latin typeface="Microsoft JhengHei"/>
              </a:rPr>
              <a:t>會員端可使用不同幣別下注，系統需要一個統一單位，才能判斷下注上下限、派彩預估與風控額度是否一致。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1856231"/>
            <a:ext cx="384048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l"/>
            <a:r>
              <a:rPr sz="1250" b="1">
                <a:solidFill>
                  <a:srgbClr val="1F2937"/>
                </a:solidFill>
                <a:latin typeface="Microsoft JhengHei"/>
              </a:rPr>
              <a:t>1  建立盤口時選擇基準幣別</a:t>
            </a:r>
          </a:p>
          <a:p>
            <a:pPr algn="l"/>
            <a:r>
              <a:rPr sz="1250" b="0">
                <a:solidFill>
                  <a:srgbClr val="1F2937"/>
                </a:solidFill>
                <a:latin typeface="Microsoft JhengHei"/>
              </a:rPr>
              <a:t>例如：本盤口基準幣別為 CNY。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75488" y="2670048"/>
            <a:ext cx="384048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l"/>
            <a:r>
              <a:rPr sz="1250" b="1">
                <a:solidFill>
                  <a:srgbClr val="1F2937"/>
                </a:solidFill>
                <a:latin typeface="Microsoft JhengHei"/>
              </a:rPr>
              <a:t>2  匯率設定負責換算</a:t>
            </a:r>
          </a:p>
          <a:p>
            <a:pPr algn="l"/>
            <a:r>
              <a:rPr sz="1250" b="0">
                <a:solidFill>
                  <a:srgbClr val="1F2937"/>
                </a:solidFill>
                <a:latin typeface="Microsoft JhengHei"/>
              </a:rPr>
              <a:t>其他幣別投注時，會先依匯率換算回基準幣別。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5488" y="3483864"/>
            <a:ext cx="3840480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l"/>
            <a:r>
              <a:rPr sz="1230" b="1">
                <a:solidFill>
                  <a:srgbClr val="1F2937"/>
                </a:solidFill>
                <a:latin typeface="Microsoft JhengHei"/>
              </a:rPr>
              <a:t>3  下注上下限依基準幣別限制</a:t>
            </a:r>
          </a:p>
          <a:p>
            <a:pPr algn="l"/>
            <a:r>
              <a:rPr sz="1230" b="0">
                <a:solidFill>
                  <a:srgbClr val="1F2937"/>
                </a:solidFill>
                <a:latin typeface="Microsoft JhengHei"/>
              </a:rPr>
              <a:t>即使會員使用 USDT、IDR、MYR 下注，也會換算後檢查額度。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75488" y="4498848"/>
            <a:ext cx="3840480" cy="50292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93C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l"/>
            <a:r>
              <a:rPr sz="1150" b="1">
                <a:solidFill>
                  <a:srgbClr val="1D4ED8"/>
                </a:solidFill>
                <a:latin typeface="Microsoft JhengHei"/>
              </a:rPr>
              <a:t>基準幣別是盤口的統一計算單位，匯率會影響會員使用各幣別下注時的上下限判斷。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26280" y="777240"/>
            <a:ext cx="9144" cy="437083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754880" y="896112"/>
            <a:ext cx="3657600" cy="256032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 fontScale="92500" lnSpcReduction="20000"/>
          </a:bodyPr>
          <a:lstStyle/>
          <a:p>
            <a:pPr algn="l"/>
            <a:r>
              <a:rPr sz="1400" b="1">
                <a:solidFill>
                  <a:srgbClr val="64748B"/>
                </a:solidFill>
                <a:latin typeface="Microsoft JhengHei"/>
              </a:rPr>
              <a:t>畫面對應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754880" y="1225296"/>
            <a:ext cx="3977639" cy="3017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l"/>
            <a:r>
              <a:rPr sz="1050" b="1">
                <a:solidFill>
                  <a:srgbClr val="1F2937"/>
                </a:solidFill>
                <a:latin typeface="Microsoft JhengHei"/>
              </a:rPr>
              <a:t>匯率設定：各幣別換算成基準幣別</a:t>
            </a:r>
          </a:p>
        </p:txBody>
      </p:sp>
      <p:pic>
        <p:nvPicPr>
          <p:cNvPr id="14" name="Picture 13" descr="codex-clipboard-227bc72a-1737-462c-b38b-173227e360f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67299" y="1581912"/>
            <a:ext cx="3352800" cy="2011680"/>
          </a:xfrm>
          <a:prstGeom prst="rect">
            <a:avLst/>
          </a:prstGeom>
        </p:spPr>
      </p:pic>
      <p:sp>
        <p:nvSpPr>
          <p:cNvPr id="15" name="Rounded Rectangle 14"/>
          <p:cNvSpPr/>
          <p:nvPr/>
        </p:nvSpPr>
        <p:spPr>
          <a:xfrm>
            <a:off x="4754880" y="3730752"/>
            <a:ext cx="3977639" cy="3017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l"/>
            <a:r>
              <a:rPr sz="1050" b="1">
                <a:solidFill>
                  <a:srgbClr val="1F2937"/>
                </a:solidFill>
                <a:latin typeface="Microsoft JhengHei"/>
              </a:rPr>
              <a:t>下注上下限：用基準幣別控制會員可下注額度</a:t>
            </a:r>
          </a:p>
        </p:txBody>
      </p:sp>
      <p:pic>
        <p:nvPicPr>
          <p:cNvPr id="16" name="Picture 15" descr="codex-clipboard-67e367b2-0cf8-4df5-9b6c-7a6380ee783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38569" y="4096512"/>
            <a:ext cx="3810261" cy="86868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21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4572000" cy="384048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 fontScale="92500" lnSpcReduction="10000"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Microsoft JhengHei"/>
              </a:rPr>
              <a:t>賠率變動規則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19872" y="155448"/>
            <a:ext cx="731520" cy="22860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 lnSpcReduction="10000"/>
          </a:bodyPr>
          <a:lstStyle/>
          <a:p>
            <a:pPr algn="r"/>
            <a:r>
              <a:rPr sz="1000" b="1">
                <a:solidFill>
                  <a:srgbClr val="94A3B8"/>
                </a:solidFill>
                <a:latin typeface="Microsoft JhengHei"/>
              </a:rPr>
              <a:t>03 / 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868680"/>
            <a:ext cx="3840480" cy="256032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 fontScale="92500" lnSpcReduction="20000"/>
          </a:bodyPr>
          <a:lstStyle/>
          <a:p>
            <a:pPr algn="l"/>
            <a:r>
              <a:rPr sz="1400" b="1">
                <a:solidFill>
                  <a:srgbClr val="64748B"/>
                </a:solidFill>
                <a:latin typeface="Microsoft JhengHei"/>
              </a:rPr>
              <a:t>變動依據可由站長設定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" y="1161288"/>
            <a:ext cx="3886200" cy="493776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 fontScale="92500"/>
          </a:bodyPr>
          <a:lstStyle/>
          <a:p>
            <a:pPr algn="l"/>
            <a:r>
              <a:rPr sz="1250" b="0">
                <a:solidFill>
                  <a:srgbClr val="1F2937"/>
                </a:solidFill>
                <a:latin typeface="Microsoft JhengHei"/>
              </a:rPr>
              <a:t>系統會依目前各選項累積投注量，自動重新計算尚未下注會員看到的賠率；已成立注單會鎖定下注當下賠率。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1810512"/>
            <a:ext cx="3886200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l"/>
            <a:r>
              <a:rPr sz="1250" b="1">
                <a:solidFill>
                  <a:srgbClr val="1F2937"/>
                </a:solidFill>
                <a:latin typeface="Microsoft JhengHei"/>
              </a:rPr>
              <a:t>核心公式</a:t>
            </a:r>
          </a:p>
          <a:p>
            <a:pPr algn="l"/>
            <a:r>
              <a:rPr sz="1250" b="0">
                <a:solidFill>
                  <a:srgbClr val="1F2937"/>
                </a:solidFill>
                <a:latin typeface="Microsoft JhengHei"/>
              </a:rPr>
              <a:t>賠率 = 總池 ÷ 該選項池 × (1 - 抽水率)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75488" y="2542032"/>
            <a:ext cx="3886200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92500" lnSpcReduction="20000"/>
          </a:bodyPr>
          <a:lstStyle/>
          <a:p>
            <a:pPr algn="l"/>
            <a:r>
              <a:rPr sz="1140" b="1">
                <a:solidFill>
                  <a:srgbClr val="1F2937"/>
                </a:solidFill>
                <a:latin typeface="Microsoft JhengHei"/>
              </a:rPr>
              <a:t>依投注金額</a:t>
            </a:r>
          </a:p>
          <a:p>
            <a:pPr algn="l"/>
            <a:r>
              <a:rPr sz="1140" b="0">
                <a:solidFill>
                  <a:srgbClr val="1F2937"/>
                </a:solidFill>
                <a:latin typeface="Microsoft JhengHei"/>
              </a:rPr>
              <a:t>用各選項累積投注金額占比調整賠率。</a:t>
            </a:r>
          </a:p>
          <a:p>
            <a:pPr algn="l"/>
            <a:r>
              <a:rPr sz="1140" b="0">
                <a:solidFill>
                  <a:srgbClr val="1F2937"/>
                </a:solidFill>
                <a:latin typeface="Microsoft JhengHei"/>
              </a:rPr>
              <a:t>押注越集中的選項，賠率下降；押注較少的選項，賠率提高。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5488" y="3447288"/>
            <a:ext cx="3886200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l"/>
            <a:r>
              <a:rPr sz="1140" b="1">
                <a:solidFill>
                  <a:srgbClr val="1F2937"/>
                </a:solidFill>
                <a:latin typeface="Microsoft JhengHei"/>
              </a:rPr>
              <a:t>依下注人數</a:t>
            </a:r>
          </a:p>
          <a:p>
            <a:pPr algn="l"/>
            <a:r>
              <a:rPr sz="1140" b="0">
                <a:solidFill>
                  <a:srgbClr val="1F2937"/>
                </a:solidFill>
                <a:latin typeface="Microsoft JhengHei"/>
              </a:rPr>
              <a:t>用各選項下注人數占比調整賠率。</a:t>
            </a:r>
          </a:p>
          <a:p>
            <a:pPr algn="l"/>
            <a:r>
              <a:rPr sz="1140" b="0">
                <a:solidFill>
                  <a:srgbClr val="1F2937"/>
                </a:solidFill>
                <a:latin typeface="Microsoft JhengHei"/>
              </a:rPr>
              <a:t>同會員計算方式可設定每筆都計入或同會員只計一次。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75488" y="4352544"/>
            <a:ext cx="3886200" cy="749808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93C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92500"/>
          </a:bodyPr>
          <a:lstStyle/>
          <a:p>
            <a:pPr algn="l"/>
            <a:r>
              <a:rPr sz="1120" b="1">
                <a:solidFill>
                  <a:srgbClr val="1D4ED8"/>
                </a:solidFill>
                <a:latin typeface="Microsoft JhengHei"/>
              </a:rPr>
              <a:t>抽水與上限</a:t>
            </a:r>
          </a:p>
          <a:p>
            <a:pPr algn="l"/>
            <a:r>
              <a:rPr sz="1120" b="0">
                <a:solidFill>
                  <a:srgbClr val="1D4ED8"/>
                </a:solidFill>
                <a:latin typeface="Microsoft JhengHei"/>
              </a:rPr>
              <a:t>抽水率作為平台收益，會反映在公式中。</a:t>
            </a:r>
          </a:p>
          <a:p>
            <a:pPr algn="l"/>
            <a:r>
              <a:rPr sz="1120" b="0">
                <a:solidFill>
                  <a:srgbClr val="1D4ED8"/>
                </a:solidFill>
                <a:latin typeface="Microsoft JhengHei"/>
              </a:rPr>
              <a:t>單筆最大賠償限制會員單筆可獲派彩額度，避免極端賠付風險。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53712" y="804672"/>
            <a:ext cx="9144" cy="431596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773168" y="868680"/>
            <a:ext cx="3657600" cy="256032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 fontScale="92500" lnSpcReduction="20000"/>
          </a:bodyPr>
          <a:lstStyle/>
          <a:p>
            <a:pPr algn="l"/>
            <a:r>
              <a:rPr sz="1400" b="1">
                <a:solidFill>
                  <a:srgbClr val="64748B"/>
                </a:solidFill>
                <a:latin typeface="Microsoft JhengHei"/>
              </a:rPr>
              <a:t>後台說明對應</a:t>
            </a:r>
          </a:p>
        </p:txBody>
      </p:sp>
      <p:pic>
        <p:nvPicPr>
          <p:cNvPr id="13" name="Picture 12" descr="codex-clipboard-1bf843b8-ef2b-41d2-b0ea-14da76eab63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91902" y="1143000"/>
            <a:ext cx="3940170" cy="1005840"/>
          </a:xfrm>
          <a:prstGeom prst="rect">
            <a:avLst/>
          </a:prstGeom>
        </p:spPr>
      </p:pic>
      <p:pic>
        <p:nvPicPr>
          <p:cNvPr id="14" name="Picture 13" descr="codex-clipboard-3f8e1fc3-9e96-48f8-a226-81880573a31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73168" y="2246466"/>
            <a:ext cx="1691640" cy="2072459"/>
          </a:xfrm>
          <a:prstGeom prst="rect">
            <a:avLst/>
          </a:prstGeom>
        </p:spPr>
      </p:pic>
      <p:pic>
        <p:nvPicPr>
          <p:cNvPr id="15" name="Picture 14" descr="codex-clipboard-a60b8714-b872-43e6-85a5-988ceed61c7c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59567" y="2240280"/>
            <a:ext cx="1833640" cy="1024128"/>
          </a:xfrm>
          <a:prstGeom prst="rect">
            <a:avLst/>
          </a:prstGeom>
        </p:spPr>
      </p:pic>
      <p:pic>
        <p:nvPicPr>
          <p:cNvPr id="16" name="Picture 15" descr="codex-clipboard-7902da83-0aec-4ba4-856c-2a04e9e0f31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14480" y="3401568"/>
            <a:ext cx="1323815" cy="932688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4773168" y="4617720"/>
            <a:ext cx="3977639" cy="384048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 lnSpcReduction="10000"/>
          </a:bodyPr>
          <a:lstStyle/>
          <a:p>
            <a:pPr algn="l"/>
            <a:r>
              <a:rPr sz="1050" b="0">
                <a:solidFill>
                  <a:srgbClr val="64748B"/>
                </a:solidFill>
                <a:latin typeface="Microsoft JhengHei"/>
              </a:rPr>
              <a:t>兩種變動依據、抽水率、同會員計算方式與最大賠償上限，會共同影響會員端即時顯示的投注賠率。</a:t>
            </a:r>
          </a:p>
        </p:txBody>
      </p:sp>
    </p:spTree>
    <p:extLst>
      <p:ext uri="{BB962C8B-B14F-4D97-AF65-F5344CB8AC3E}">
        <p14:creationId xmlns:p14="http://schemas.microsoft.com/office/powerpoint/2010/main" val="33677554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21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5029200" cy="384048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 fontScale="92500" lnSpcReduction="10000"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Microsoft JhengHei"/>
              </a:rPr>
              <a:t>題型設定與會員端呈現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19872" y="155448"/>
            <a:ext cx="731520" cy="22860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 lnSpcReduction="10000"/>
          </a:bodyPr>
          <a:lstStyle/>
          <a:p>
            <a:pPr algn="r"/>
            <a:r>
              <a:rPr sz="1000" b="1">
                <a:solidFill>
                  <a:srgbClr val="94A3B8"/>
                </a:solidFill>
                <a:latin typeface="Microsoft JhengHei"/>
              </a:rPr>
              <a:t>04 / 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868680"/>
            <a:ext cx="3840480" cy="256032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 fontScale="92500" lnSpcReduction="20000"/>
          </a:bodyPr>
          <a:lstStyle/>
          <a:p>
            <a:pPr algn="l"/>
            <a:r>
              <a:rPr sz="1400" b="1">
                <a:solidFill>
                  <a:srgbClr val="64748B"/>
                </a:solidFill>
                <a:latin typeface="Microsoft JhengHei"/>
              </a:rPr>
              <a:t>後台可選擇題型</a:t>
            </a:r>
          </a:p>
        </p:txBody>
      </p:sp>
      <p:pic>
        <p:nvPicPr>
          <p:cNvPr id="6" name="Picture 5" descr="codex-clipboard-e42ad4a7-31e5-41ca-875d-03dc9e67112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5105" y="1143000"/>
            <a:ext cx="1220964" cy="786383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240280" y="1143000"/>
            <a:ext cx="2148840" cy="713232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l"/>
            <a:r>
              <a:rPr sz="1220" b="0">
                <a:solidFill>
                  <a:srgbClr val="1F2937"/>
                </a:solidFill>
                <a:latin typeface="Microsoft JhengHei"/>
              </a:rPr>
              <a:t>站長建立盤口時先選題型，系統會依題型帶出對應選項結構與會員端投注樣式。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75488" y="2103120"/>
            <a:ext cx="3913632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l"/>
            <a:r>
              <a:rPr sz="1120" b="1">
                <a:solidFill>
                  <a:srgbClr val="1F2937"/>
                </a:solidFill>
                <a:latin typeface="Microsoft JhengHei"/>
              </a:rPr>
              <a:t>單題雙選項型</a:t>
            </a:r>
          </a:p>
          <a:p>
            <a:pPr algn="l"/>
            <a:r>
              <a:rPr sz="1120" b="0">
                <a:solidFill>
                  <a:srgbClr val="1F2937"/>
                </a:solidFill>
                <a:latin typeface="Microsoft JhengHei"/>
              </a:rPr>
              <a:t>適合只有兩個答案的題目，例如是 / 否、會 / 不會。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5488" y="2761488"/>
            <a:ext cx="3913632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l"/>
            <a:r>
              <a:rPr sz="1080" b="1">
                <a:solidFill>
                  <a:srgbClr val="1F2937"/>
                </a:solidFill>
                <a:latin typeface="Microsoft JhengHei"/>
              </a:rPr>
              <a:t>主選項 + 是 / 否判定型</a:t>
            </a:r>
          </a:p>
          <a:p>
            <a:pPr algn="l"/>
            <a:r>
              <a:rPr sz="1080" b="0">
                <a:solidFill>
                  <a:srgbClr val="1F2937"/>
                </a:solidFill>
                <a:latin typeface="Microsoft JhengHei"/>
              </a:rPr>
              <a:t>每個主選項都可再判斷是 / 否，適合多個日期、隊伍或事件逐一判定。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75488" y="3511296"/>
            <a:ext cx="3913632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lnSpcReduction="10000"/>
          </a:bodyPr>
          <a:lstStyle/>
          <a:p>
            <a:pPr algn="l"/>
            <a:r>
              <a:rPr sz="1080" b="1">
                <a:solidFill>
                  <a:srgbClr val="1F2937"/>
                </a:solidFill>
                <a:latin typeface="Microsoft JhengHei"/>
              </a:rPr>
              <a:t>多選一型</a:t>
            </a:r>
          </a:p>
          <a:p>
            <a:pPr algn="l"/>
            <a:r>
              <a:rPr sz="1080" b="0">
                <a:solidFill>
                  <a:srgbClr val="1F2937"/>
                </a:solidFill>
                <a:latin typeface="Microsoft JhengHei"/>
              </a:rPr>
              <a:t>多個候選答案中只會成立一個結果，適合冠軍、得獎者、指定事件結果。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75488" y="4242816"/>
            <a:ext cx="3913632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92500"/>
          </a:bodyPr>
          <a:lstStyle/>
          <a:p>
            <a:pPr algn="l"/>
            <a:r>
              <a:rPr sz="1080" b="1">
                <a:solidFill>
                  <a:srgbClr val="1F2937"/>
                </a:solidFill>
                <a:latin typeface="Microsoft JhengHei"/>
              </a:rPr>
              <a:t>對戰型</a:t>
            </a:r>
          </a:p>
          <a:p>
            <a:pPr algn="l"/>
            <a:r>
              <a:rPr sz="1080" b="0">
                <a:solidFill>
                  <a:srgbClr val="1F2937"/>
                </a:solidFill>
                <a:latin typeface="Microsoft JhengHei"/>
              </a:rPr>
              <a:t>針對雙方對戰結果下注，可包含主隊、和局、客隊等固定結果。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90288" y="804672"/>
            <a:ext cx="9144" cy="431596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773168" y="868680"/>
            <a:ext cx="3657600" cy="256032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 fontScale="92500" lnSpcReduction="20000"/>
          </a:bodyPr>
          <a:lstStyle/>
          <a:p>
            <a:pPr algn="l"/>
            <a:r>
              <a:rPr sz="1400" b="1">
                <a:solidFill>
                  <a:srgbClr val="64748B"/>
                </a:solidFill>
                <a:latin typeface="Microsoft JhengHei"/>
              </a:rPr>
              <a:t>會員端呈現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73168" y="1143000"/>
            <a:ext cx="1783080" cy="201168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 fontScale="92500" lnSpcReduction="20000"/>
          </a:bodyPr>
          <a:lstStyle/>
          <a:p>
            <a:pPr algn="l"/>
            <a:r>
              <a:rPr sz="950" b="1">
                <a:solidFill>
                  <a:srgbClr val="2563EB"/>
                </a:solidFill>
                <a:latin typeface="Microsoft JhengHei"/>
              </a:rPr>
              <a:t>主選項 + 是 / 否判定型</a:t>
            </a:r>
          </a:p>
        </p:txBody>
      </p:sp>
      <p:pic>
        <p:nvPicPr>
          <p:cNvPr id="15" name="Picture 14" descr="codex-clipboard-a72fd68a-6eb1-4619-9c99-13b67ad9dc2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8743" y="1353312"/>
            <a:ext cx="1451928" cy="1344168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812280" y="1143000"/>
            <a:ext cx="1783080" cy="201168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 fontScale="92500" lnSpcReduction="20000"/>
          </a:bodyPr>
          <a:lstStyle/>
          <a:p>
            <a:pPr algn="l"/>
            <a:r>
              <a:rPr sz="950" b="1">
                <a:solidFill>
                  <a:srgbClr val="2563EB"/>
                </a:solidFill>
                <a:latin typeface="Microsoft JhengHei"/>
              </a:rPr>
              <a:t>對戰型</a:t>
            </a:r>
          </a:p>
        </p:txBody>
      </p:sp>
      <p:pic>
        <p:nvPicPr>
          <p:cNvPr id="17" name="Picture 16" descr="codex-clipboard-827665b3-593b-48b6-aa03-0f36164d3cf8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26249" y="1353312"/>
            <a:ext cx="1355140" cy="1344168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4773168" y="2971800"/>
            <a:ext cx="1783080" cy="201168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 fontScale="92500" lnSpcReduction="20000"/>
          </a:bodyPr>
          <a:lstStyle/>
          <a:p>
            <a:pPr algn="l"/>
            <a:r>
              <a:rPr sz="950" b="1">
                <a:solidFill>
                  <a:srgbClr val="2563EB"/>
                </a:solidFill>
                <a:latin typeface="Microsoft JhengHei"/>
              </a:rPr>
              <a:t>多選一型</a:t>
            </a:r>
          </a:p>
        </p:txBody>
      </p:sp>
      <p:pic>
        <p:nvPicPr>
          <p:cNvPr id="19" name="Picture 18" descr="codex-clipboard-61dd0f8c-d3b8-4663-9903-0b368ee57de0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06284" y="3182112"/>
            <a:ext cx="1316847" cy="134416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6812280" y="2971800"/>
            <a:ext cx="1783080" cy="201168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 fontScale="92500" lnSpcReduction="20000"/>
          </a:bodyPr>
          <a:lstStyle/>
          <a:p>
            <a:pPr algn="l"/>
            <a:r>
              <a:rPr sz="950" b="1">
                <a:solidFill>
                  <a:srgbClr val="2563EB"/>
                </a:solidFill>
                <a:latin typeface="Microsoft JhengHei"/>
              </a:rPr>
              <a:t>單題雙選項型</a:t>
            </a:r>
          </a:p>
        </p:txBody>
      </p:sp>
      <p:pic>
        <p:nvPicPr>
          <p:cNvPr id="21" name="Picture 20" descr="codex-clipboard-9d4f6ce4-777b-4adc-a38a-d2916625356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028947" y="3182112"/>
            <a:ext cx="1349745" cy="1344168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4773168" y="4709160"/>
            <a:ext cx="3977639" cy="32004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 fontScale="85000" lnSpcReduction="20000"/>
          </a:bodyPr>
          <a:lstStyle/>
          <a:p>
            <a:pPr algn="l"/>
            <a:r>
              <a:rPr sz="1050" b="0">
                <a:solidFill>
                  <a:srgbClr val="64748B"/>
                </a:solidFill>
                <a:latin typeface="Microsoft JhengHei"/>
              </a:rPr>
              <a:t>不同題型會影響會員端選項排列、按鈕數量與結果判定方式；下注成立後仍會鎖定當下選項與賠率。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21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5029200" cy="384048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 fontScale="92500" lnSpcReduction="10000"/>
          </a:bodyPr>
          <a:lstStyle/>
          <a:p>
            <a:pPr algn="l"/>
            <a:r>
              <a:rPr sz="2200" b="1" dirty="0" err="1">
                <a:solidFill>
                  <a:srgbClr val="FFFFFF"/>
                </a:solidFill>
                <a:latin typeface="Microsoft JhengHei"/>
              </a:rPr>
              <a:t>會員端呈現</a:t>
            </a:r>
            <a:endParaRPr sz="2200" b="1" dirty="0">
              <a:solidFill>
                <a:srgbClr val="FFFFFF"/>
              </a:solidFill>
              <a:latin typeface="Microsoft JhengHei"/>
            </a:endParaRPr>
          </a:p>
        </p:txBody>
      </p:sp>
      <p:sp>
        <p:nvSpPr>
          <p:cNvPr id="31" name="TextBox 4">
            <a:extLst>
              <a:ext uri="{FF2B5EF4-FFF2-40B4-BE49-F238E27FC236}">
                <a16:creationId xmlns:a16="http://schemas.microsoft.com/office/drawing/2014/main" id="{FFAEAA43-0CFA-4A1C-81A1-D2FFD8E37CBB}"/>
              </a:ext>
            </a:extLst>
          </p:cNvPr>
          <p:cNvSpPr txBox="1"/>
          <p:nvPr/>
        </p:nvSpPr>
        <p:spPr>
          <a:xfrm>
            <a:off x="46130" y="1082514"/>
            <a:ext cx="3840480" cy="256032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 fontScale="92500" lnSpcReduction="20000"/>
          </a:bodyPr>
          <a:lstStyle/>
          <a:p>
            <a:pPr algn="l"/>
            <a:r>
              <a:rPr lang="zh-TW" altLang="en-US" sz="1400" b="1" dirty="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盤口</a:t>
            </a:r>
            <a:endParaRPr sz="1400" b="1" dirty="0">
              <a:solidFill>
                <a:srgbClr val="64748B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03D3D150-77FB-465F-B95A-6EDC9A21D4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802" y="1341120"/>
            <a:ext cx="9055198" cy="3230880"/>
          </a:xfrm>
          <a:prstGeom prst="rect">
            <a:avLst/>
          </a:prstGeom>
        </p:spPr>
      </p:pic>
      <p:sp>
        <p:nvSpPr>
          <p:cNvPr id="35" name="TextBox 4">
            <a:extLst>
              <a:ext uri="{FF2B5EF4-FFF2-40B4-BE49-F238E27FC236}">
                <a16:creationId xmlns:a16="http://schemas.microsoft.com/office/drawing/2014/main" id="{3F11EBCE-5E34-4A12-8D37-68FE8D276CE9}"/>
              </a:ext>
            </a:extLst>
          </p:cNvPr>
          <p:cNvSpPr txBox="1"/>
          <p:nvPr/>
        </p:nvSpPr>
        <p:spPr>
          <a:xfrm>
            <a:off x="3267616" y="1893282"/>
            <a:ext cx="856924" cy="222733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txBody>
          <a:bodyPr wrap="square" anchor="ctr">
            <a:noAutofit/>
          </a:bodyPr>
          <a:lstStyle/>
          <a:p>
            <a:pPr algn="ctr"/>
            <a:r>
              <a:rPr lang="zh-TW" altLang="en-US" sz="1200" b="1" dirty="0">
                <a:solidFill>
                  <a:srgbClr val="2563EB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分類切換</a:t>
            </a:r>
            <a:endParaRPr sz="1200" b="1" dirty="0">
              <a:solidFill>
                <a:srgbClr val="2563EB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6" name="TextBox 4">
            <a:extLst>
              <a:ext uri="{FF2B5EF4-FFF2-40B4-BE49-F238E27FC236}">
                <a16:creationId xmlns:a16="http://schemas.microsoft.com/office/drawing/2014/main" id="{30E0AAF6-5926-4F1D-A39C-914E716E4E42}"/>
              </a:ext>
            </a:extLst>
          </p:cNvPr>
          <p:cNvSpPr txBox="1"/>
          <p:nvPr/>
        </p:nvSpPr>
        <p:spPr>
          <a:xfrm>
            <a:off x="289221" y="1851689"/>
            <a:ext cx="2955206" cy="305921"/>
          </a:xfrm>
          <a:prstGeom prst="rect">
            <a:avLst/>
          </a:prstGeom>
          <a:noFill/>
          <a:ln>
            <a:solidFill>
              <a:srgbClr val="FFFF00"/>
            </a:solidFill>
            <a:prstDash val="sysDash"/>
          </a:ln>
        </p:spPr>
        <p:txBody>
          <a:bodyPr wrap="square" anchor="ctr">
            <a:normAutofit/>
          </a:bodyPr>
          <a:lstStyle/>
          <a:p>
            <a:pPr algn="ctr"/>
            <a:endParaRPr sz="900" b="1" dirty="0">
              <a:solidFill>
                <a:srgbClr val="2563EB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7" name="TextBox 4">
            <a:extLst>
              <a:ext uri="{FF2B5EF4-FFF2-40B4-BE49-F238E27FC236}">
                <a16:creationId xmlns:a16="http://schemas.microsoft.com/office/drawing/2014/main" id="{4043334F-812E-49EB-B510-5F1EFAA7CE6A}"/>
              </a:ext>
            </a:extLst>
          </p:cNvPr>
          <p:cNvSpPr txBox="1"/>
          <p:nvPr/>
        </p:nvSpPr>
        <p:spPr>
          <a:xfrm>
            <a:off x="6644639" y="2157610"/>
            <a:ext cx="1837605" cy="1703190"/>
          </a:xfrm>
          <a:prstGeom prst="rect">
            <a:avLst/>
          </a:prstGeom>
          <a:noFill/>
          <a:ln>
            <a:solidFill>
              <a:srgbClr val="FFFF00"/>
            </a:solidFill>
            <a:prstDash val="sysDash"/>
          </a:ln>
        </p:spPr>
        <p:txBody>
          <a:bodyPr wrap="square" anchor="ctr">
            <a:normAutofit/>
          </a:bodyPr>
          <a:lstStyle/>
          <a:p>
            <a:pPr algn="ctr"/>
            <a:endParaRPr sz="900" b="1" dirty="0">
              <a:solidFill>
                <a:srgbClr val="2563EB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8" name="TextBox 4">
            <a:extLst>
              <a:ext uri="{FF2B5EF4-FFF2-40B4-BE49-F238E27FC236}">
                <a16:creationId xmlns:a16="http://schemas.microsoft.com/office/drawing/2014/main" id="{B081C36D-AF72-42BE-9724-D59EF4BAF8FE}"/>
              </a:ext>
            </a:extLst>
          </p:cNvPr>
          <p:cNvSpPr txBox="1"/>
          <p:nvPr/>
        </p:nvSpPr>
        <p:spPr>
          <a:xfrm>
            <a:off x="6666670" y="1934877"/>
            <a:ext cx="619857" cy="207583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txBody>
          <a:bodyPr wrap="square" anchor="ctr">
            <a:noAutofit/>
          </a:bodyPr>
          <a:lstStyle/>
          <a:p>
            <a:pPr algn="ctr"/>
            <a:r>
              <a:rPr lang="zh-TW" altLang="en-US" sz="1200" b="1" dirty="0">
                <a:solidFill>
                  <a:srgbClr val="2563EB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篩選</a:t>
            </a:r>
            <a:endParaRPr sz="1200" b="1" dirty="0">
              <a:solidFill>
                <a:srgbClr val="2563EB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9" name="TextBox 4">
            <a:extLst>
              <a:ext uri="{FF2B5EF4-FFF2-40B4-BE49-F238E27FC236}">
                <a16:creationId xmlns:a16="http://schemas.microsoft.com/office/drawing/2014/main" id="{6BE71796-C880-4428-BDE5-77302BAB59FB}"/>
              </a:ext>
            </a:extLst>
          </p:cNvPr>
          <p:cNvSpPr txBox="1"/>
          <p:nvPr/>
        </p:nvSpPr>
        <p:spPr>
          <a:xfrm>
            <a:off x="8536010" y="1934877"/>
            <a:ext cx="509675" cy="222733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txBody>
          <a:bodyPr wrap="square" anchor="ctr">
            <a:noAutofit/>
          </a:bodyPr>
          <a:lstStyle/>
          <a:p>
            <a:pPr algn="ctr"/>
            <a:r>
              <a:rPr lang="zh-TW" altLang="en-US" sz="1200" b="1" dirty="0">
                <a:solidFill>
                  <a:srgbClr val="2563EB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收藏</a:t>
            </a:r>
            <a:endParaRPr sz="1200" b="1" dirty="0">
              <a:solidFill>
                <a:srgbClr val="2563EB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0" name="TextBox 4">
            <a:extLst>
              <a:ext uri="{FF2B5EF4-FFF2-40B4-BE49-F238E27FC236}">
                <a16:creationId xmlns:a16="http://schemas.microsoft.com/office/drawing/2014/main" id="{546008A3-7D05-4338-9976-0DB216E4C2F9}"/>
              </a:ext>
            </a:extLst>
          </p:cNvPr>
          <p:cNvSpPr txBox="1"/>
          <p:nvPr/>
        </p:nvSpPr>
        <p:spPr>
          <a:xfrm>
            <a:off x="2499362" y="2584894"/>
            <a:ext cx="3657598" cy="1770359"/>
          </a:xfrm>
          <a:prstGeom prst="rect">
            <a:avLst/>
          </a:prstGeom>
          <a:noFill/>
          <a:ln>
            <a:solidFill>
              <a:srgbClr val="FFFF00"/>
            </a:solidFill>
            <a:prstDash val="sysDash"/>
          </a:ln>
        </p:spPr>
        <p:txBody>
          <a:bodyPr wrap="square" anchor="ctr">
            <a:normAutofit/>
          </a:bodyPr>
          <a:lstStyle/>
          <a:p>
            <a:pPr algn="ctr"/>
            <a:endParaRPr sz="900" b="1" dirty="0">
              <a:solidFill>
                <a:srgbClr val="2563EB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1" name="TextBox 4">
            <a:extLst>
              <a:ext uri="{FF2B5EF4-FFF2-40B4-BE49-F238E27FC236}">
                <a16:creationId xmlns:a16="http://schemas.microsoft.com/office/drawing/2014/main" id="{5BE7E8BF-EDA1-45B4-A410-FAD54B0B9B89}"/>
              </a:ext>
            </a:extLst>
          </p:cNvPr>
          <p:cNvSpPr txBox="1"/>
          <p:nvPr/>
        </p:nvSpPr>
        <p:spPr>
          <a:xfrm>
            <a:off x="6187404" y="4110084"/>
            <a:ext cx="856924" cy="222733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txBody>
          <a:bodyPr wrap="square" anchor="ctr">
            <a:noAutofit/>
          </a:bodyPr>
          <a:lstStyle/>
          <a:p>
            <a:pPr algn="ctr"/>
            <a:r>
              <a:rPr lang="zh-TW" altLang="en-US" sz="1200" b="1" dirty="0">
                <a:solidFill>
                  <a:srgbClr val="2563EB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分佈浮層</a:t>
            </a:r>
            <a:endParaRPr sz="1200" b="1" dirty="0">
              <a:solidFill>
                <a:srgbClr val="2563EB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5304158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圖片 6">
            <a:extLst>
              <a:ext uri="{FF2B5EF4-FFF2-40B4-BE49-F238E27FC236}">
                <a16:creationId xmlns:a16="http://schemas.microsoft.com/office/drawing/2014/main" id="{36ECE8C0-C737-4210-B99D-292BC822A8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2836" y="1309067"/>
            <a:ext cx="5550650" cy="3724705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21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5029200" cy="384048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 fontScale="92500" lnSpcReduction="10000"/>
          </a:bodyPr>
          <a:lstStyle/>
          <a:p>
            <a:pPr algn="l"/>
            <a:r>
              <a:rPr sz="2200" b="1" dirty="0" err="1">
                <a:solidFill>
                  <a:srgbClr val="FFFFFF"/>
                </a:solidFill>
                <a:latin typeface="Microsoft JhengHei"/>
              </a:rPr>
              <a:t>會員端呈現</a:t>
            </a:r>
            <a:endParaRPr sz="2200" b="1" dirty="0">
              <a:solidFill>
                <a:srgbClr val="FFFFFF"/>
              </a:solidFill>
              <a:latin typeface="Microsoft JhengHei"/>
            </a:endParaRPr>
          </a:p>
        </p:txBody>
      </p:sp>
      <p:sp>
        <p:nvSpPr>
          <p:cNvPr id="31" name="TextBox 4">
            <a:extLst>
              <a:ext uri="{FF2B5EF4-FFF2-40B4-BE49-F238E27FC236}">
                <a16:creationId xmlns:a16="http://schemas.microsoft.com/office/drawing/2014/main" id="{FFAEAA43-0CFA-4A1C-81A1-D2FFD8E37CBB}"/>
              </a:ext>
            </a:extLst>
          </p:cNvPr>
          <p:cNvSpPr txBox="1"/>
          <p:nvPr/>
        </p:nvSpPr>
        <p:spPr>
          <a:xfrm>
            <a:off x="1463040" y="922878"/>
            <a:ext cx="3840480" cy="256032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 fontScale="92500" lnSpcReduction="20000"/>
          </a:bodyPr>
          <a:lstStyle/>
          <a:p>
            <a:pPr algn="l"/>
            <a:r>
              <a:rPr lang="zh-TW" altLang="en-US" sz="1400" b="1" dirty="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排行榜</a:t>
            </a:r>
            <a:endParaRPr sz="1400" b="1" dirty="0">
              <a:solidFill>
                <a:srgbClr val="64748B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5" name="TextBox 4">
            <a:extLst>
              <a:ext uri="{FF2B5EF4-FFF2-40B4-BE49-F238E27FC236}">
                <a16:creationId xmlns:a16="http://schemas.microsoft.com/office/drawing/2014/main" id="{3F11EBCE-5E34-4A12-8D37-68FE8D276CE9}"/>
              </a:ext>
            </a:extLst>
          </p:cNvPr>
          <p:cNvSpPr txBox="1"/>
          <p:nvPr/>
        </p:nvSpPr>
        <p:spPr>
          <a:xfrm>
            <a:off x="3267616" y="1893282"/>
            <a:ext cx="856924" cy="222733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txBody>
          <a:bodyPr wrap="square" anchor="ctr">
            <a:noAutofit/>
          </a:bodyPr>
          <a:lstStyle/>
          <a:p>
            <a:pPr algn="ctr"/>
            <a:r>
              <a:rPr lang="zh-TW" altLang="en-US" sz="1200" b="1" dirty="0">
                <a:solidFill>
                  <a:srgbClr val="2563EB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盤口排行</a:t>
            </a:r>
            <a:endParaRPr sz="1200" b="1" dirty="0">
              <a:solidFill>
                <a:srgbClr val="2563EB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7" name="TextBox 4">
            <a:extLst>
              <a:ext uri="{FF2B5EF4-FFF2-40B4-BE49-F238E27FC236}">
                <a16:creationId xmlns:a16="http://schemas.microsoft.com/office/drawing/2014/main" id="{4043334F-812E-49EB-B510-5F1EFAA7CE6A}"/>
              </a:ext>
            </a:extLst>
          </p:cNvPr>
          <p:cNvSpPr txBox="1"/>
          <p:nvPr/>
        </p:nvSpPr>
        <p:spPr>
          <a:xfrm>
            <a:off x="5587566" y="1893282"/>
            <a:ext cx="1377078" cy="1566103"/>
          </a:xfrm>
          <a:prstGeom prst="rect">
            <a:avLst/>
          </a:prstGeom>
          <a:noFill/>
          <a:ln>
            <a:solidFill>
              <a:srgbClr val="FFFF00"/>
            </a:solidFill>
            <a:prstDash val="sysDash"/>
          </a:ln>
        </p:spPr>
        <p:txBody>
          <a:bodyPr wrap="square" anchor="ctr">
            <a:normAutofit/>
          </a:bodyPr>
          <a:lstStyle/>
          <a:p>
            <a:pPr algn="ctr"/>
            <a:endParaRPr sz="900" b="1" dirty="0">
              <a:solidFill>
                <a:srgbClr val="2563EB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8" name="TextBox 4">
            <a:extLst>
              <a:ext uri="{FF2B5EF4-FFF2-40B4-BE49-F238E27FC236}">
                <a16:creationId xmlns:a16="http://schemas.microsoft.com/office/drawing/2014/main" id="{B081C36D-AF72-42BE-9724-D59EF4BAF8FE}"/>
              </a:ext>
            </a:extLst>
          </p:cNvPr>
          <p:cNvSpPr txBox="1"/>
          <p:nvPr/>
        </p:nvSpPr>
        <p:spPr>
          <a:xfrm>
            <a:off x="5690704" y="3474621"/>
            <a:ext cx="1254197" cy="260867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txBody>
          <a:bodyPr wrap="square" anchor="ctr">
            <a:noAutofit/>
          </a:bodyPr>
          <a:lstStyle/>
          <a:p>
            <a:pPr algn="ctr"/>
            <a:r>
              <a:rPr lang="zh-TW" altLang="en-US" sz="1200" b="1" dirty="0">
                <a:solidFill>
                  <a:srgbClr val="2563EB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會員盈利排行</a:t>
            </a:r>
            <a:endParaRPr sz="1200" b="1" dirty="0">
              <a:solidFill>
                <a:srgbClr val="2563EB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0" name="TextBox 4">
            <a:extLst>
              <a:ext uri="{FF2B5EF4-FFF2-40B4-BE49-F238E27FC236}">
                <a16:creationId xmlns:a16="http://schemas.microsoft.com/office/drawing/2014/main" id="{546008A3-7D05-4338-9976-0DB216E4C2F9}"/>
              </a:ext>
            </a:extLst>
          </p:cNvPr>
          <p:cNvSpPr txBox="1"/>
          <p:nvPr/>
        </p:nvSpPr>
        <p:spPr>
          <a:xfrm>
            <a:off x="1608282" y="2157610"/>
            <a:ext cx="3923837" cy="2800470"/>
          </a:xfrm>
          <a:prstGeom prst="rect">
            <a:avLst/>
          </a:prstGeom>
          <a:noFill/>
          <a:ln>
            <a:solidFill>
              <a:srgbClr val="FFFF00"/>
            </a:solidFill>
            <a:prstDash val="sysDash"/>
          </a:ln>
        </p:spPr>
        <p:txBody>
          <a:bodyPr wrap="square" anchor="ctr">
            <a:normAutofit/>
          </a:bodyPr>
          <a:lstStyle/>
          <a:p>
            <a:pPr algn="ctr"/>
            <a:endParaRPr sz="900" b="1" dirty="0">
              <a:solidFill>
                <a:srgbClr val="2563EB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3804386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>
            <a:extLst>
              <a:ext uri="{FF2B5EF4-FFF2-40B4-BE49-F238E27FC236}">
                <a16:creationId xmlns:a16="http://schemas.microsoft.com/office/drawing/2014/main" id="{78BCE506-3A9F-4B9C-9434-C8930AEAB2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48324" y="1247556"/>
            <a:ext cx="5152432" cy="3786216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21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5029200" cy="384048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 fontScale="92500" lnSpcReduction="10000"/>
          </a:bodyPr>
          <a:lstStyle/>
          <a:p>
            <a:pPr algn="l"/>
            <a:r>
              <a:rPr sz="2200" b="1" dirty="0" err="1">
                <a:solidFill>
                  <a:srgbClr val="FFFFFF"/>
                </a:solidFill>
                <a:latin typeface="Microsoft JhengHei"/>
              </a:rPr>
              <a:t>會員端呈現</a:t>
            </a:r>
            <a:endParaRPr sz="2200" b="1" dirty="0">
              <a:solidFill>
                <a:srgbClr val="FFFFFF"/>
              </a:solidFill>
              <a:latin typeface="Microsoft JhengHei"/>
            </a:endParaRPr>
          </a:p>
        </p:txBody>
      </p:sp>
      <p:sp>
        <p:nvSpPr>
          <p:cNvPr id="31" name="TextBox 4">
            <a:extLst>
              <a:ext uri="{FF2B5EF4-FFF2-40B4-BE49-F238E27FC236}">
                <a16:creationId xmlns:a16="http://schemas.microsoft.com/office/drawing/2014/main" id="{FFAEAA43-0CFA-4A1C-81A1-D2FFD8E37CBB}"/>
              </a:ext>
            </a:extLst>
          </p:cNvPr>
          <p:cNvSpPr txBox="1"/>
          <p:nvPr/>
        </p:nvSpPr>
        <p:spPr>
          <a:xfrm>
            <a:off x="1463040" y="922878"/>
            <a:ext cx="3840480" cy="256032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 fontScale="92500" lnSpcReduction="20000"/>
          </a:bodyPr>
          <a:lstStyle/>
          <a:p>
            <a:pPr algn="l"/>
            <a:r>
              <a:rPr lang="zh-TW" altLang="en-US" sz="1400" b="1" dirty="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我的注單</a:t>
            </a:r>
            <a:endParaRPr sz="1400" b="1" dirty="0">
              <a:solidFill>
                <a:srgbClr val="64748B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5" name="TextBox 4">
            <a:extLst>
              <a:ext uri="{FF2B5EF4-FFF2-40B4-BE49-F238E27FC236}">
                <a16:creationId xmlns:a16="http://schemas.microsoft.com/office/drawing/2014/main" id="{3F11EBCE-5E34-4A12-8D37-68FE8D276CE9}"/>
              </a:ext>
            </a:extLst>
          </p:cNvPr>
          <p:cNvSpPr txBox="1"/>
          <p:nvPr/>
        </p:nvSpPr>
        <p:spPr>
          <a:xfrm>
            <a:off x="478972" y="1988368"/>
            <a:ext cx="1105362" cy="222733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txBody>
          <a:bodyPr wrap="square" anchor="ctr">
            <a:noAutofit/>
          </a:bodyPr>
          <a:lstStyle/>
          <a:p>
            <a:pPr algn="ctr"/>
            <a:r>
              <a:rPr lang="zh-TW" altLang="en-US" sz="1200" b="1" dirty="0">
                <a:solidFill>
                  <a:srgbClr val="2563EB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個人投注概況</a:t>
            </a:r>
            <a:endParaRPr sz="1200" b="1" dirty="0">
              <a:solidFill>
                <a:srgbClr val="2563EB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7" name="TextBox 4">
            <a:extLst>
              <a:ext uri="{FF2B5EF4-FFF2-40B4-BE49-F238E27FC236}">
                <a16:creationId xmlns:a16="http://schemas.microsoft.com/office/drawing/2014/main" id="{4043334F-812E-49EB-B510-5F1EFAA7CE6A}"/>
              </a:ext>
            </a:extLst>
          </p:cNvPr>
          <p:cNvSpPr txBox="1"/>
          <p:nvPr/>
        </p:nvSpPr>
        <p:spPr>
          <a:xfrm>
            <a:off x="1633235" y="3391104"/>
            <a:ext cx="4984312" cy="1566103"/>
          </a:xfrm>
          <a:prstGeom prst="rect">
            <a:avLst/>
          </a:prstGeom>
          <a:noFill/>
          <a:ln>
            <a:solidFill>
              <a:srgbClr val="FFFF00"/>
            </a:solidFill>
            <a:prstDash val="sysDash"/>
          </a:ln>
        </p:spPr>
        <p:txBody>
          <a:bodyPr wrap="square" anchor="ctr">
            <a:normAutofit/>
          </a:bodyPr>
          <a:lstStyle/>
          <a:p>
            <a:pPr algn="ctr"/>
            <a:endParaRPr sz="900" b="1" dirty="0">
              <a:solidFill>
                <a:srgbClr val="2563EB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8" name="TextBox 4">
            <a:extLst>
              <a:ext uri="{FF2B5EF4-FFF2-40B4-BE49-F238E27FC236}">
                <a16:creationId xmlns:a16="http://schemas.microsoft.com/office/drawing/2014/main" id="{B081C36D-AF72-42BE-9724-D59EF4BAF8FE}"/>
              </a:ext>
            </a:extLst>
          </p:cNvPr>
          <p:cNvSpPr txBox="1"/>
          <p:nvPr/>
        </p:nvSpPr>
        <p:spPr>
          <a:xfrm>
            <a:off x="6617547" y="3396622"/>
            <a:ext cx="978129" cy="260867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txBody>
          <a:bodyPr wrap="square" anchor="ctr">
            <a:noAutofit/>
          </a:bodyPr>
          <a:lstStyle/>
          <a:p>
            <a:pPr algn="ctr"/>
            <a:r>
              <a:rPr lang="zh-TW" altLang="en-US" sz="1200" b="1" dirty="0">
                <a:solidFill>
                  <a:srgbClr val="2563EB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注單資訊</a:t>
            </a:r>
            <a:endParaRPr sz="1200" b="1" dirty="0">
              <a:solidFill>
                <a:srgbClr val="2563EB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0" name="TextBox 4">
            <a:extLst>
              <a:ext uri="{FF2B5EF4-FFF2-40B4-BE49-F238E27FC236}">
                <a16:creationId xmlns:a16="http://schemas.microsoft.com/office/drawing/2014/main" id="{546008A3-7D05-4338-9976-0DB216E4C2F9}"/>
              </a:ext>
            </a:extLst>
          </p:cNvPr>
          <p:cNvSpPr txBox="1"/>
          <p:nvPr/>
        </p:nvSpPr>
        <p:spPr>
          <a:xfrm>
            <a:off x="1620343" y="1568422"/>
            <a:ext cx="4984313" cy="1666328"/>
          </a:xfrm>
          <a:prstGeom prst="rect">
            <a:avLst/>
          </a:prstGeom>
          <a:noFill/>
          <a:ln>
            <a:solidFill>
              <a:srgbClr val="FFFF00"/>
            </a:solidFill>
            <a:prstDash val="sysDash"/>
          </a:ln>
        </p:spPr>
        <p:txBody>
          <a:bodyPr wrap="square" anchor="ctr">
            <a:normAutofit/>
          </a:bodyPr>
          <a:lstStyle/>
          <a:p>
            <a:pPr algn="ctr"/>
            <a:endParaRPr sz="900" b="1" dirty="0">
              <a:solidFill>
                <a:srgbClr val="2563EB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1266538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111111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438912" y="0"/>
            <a:ext cx="640080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注單與數據總攬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8046720" y="0"/>
            <a:ext cx="82296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92500"/>
          </a:bodyPr>
          <a:lstStyle/>
          <a:p>
            <a:r>
              <a:t>05 / 05</a:t>
            </a:r>
          </a:p>
        </p:txBody>
      </p:sp>
      <p:sp>
        <p:nvSpPr>
          <p:cNvPr id="6" name="Shape 3"/>
          <p:cNvSpPr/>
          <p:nvPr/>
        </p:nvSpPr>
        <p:spPr>
          <a:xfrm>
            <a:off x="4645152" y="658368"/>
            <a:ext cx="18288" cy="4389120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7" name="Text 4"/>
          <p:cNvSpPr/>
          <p:nvPr/>
        </p:nvSpPr>
        <p:spPr>
          <a:xfrm>
            <a:off x="4782312" y="1107912"/>
            <a:ext cx="411480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zh-TW" altLang="en-US" sz="1150" b="1" dirty="0">
                <a:ea typeface="微軟正黑體" panose="020B0604030504040204" pitchFamily="34" charset="-120"/>
              </a:rPr>
              <a:t>統計卡片</a:t>
            </a:r>
            <a:endParaRPr lang="en-US" sz="1150" b="1" dirty="0">
              <a:ea typeface="微軟正黑體" panose="020B0604030504040204" pitchFamily="34" charset="-120"/>
            </a:endParaRPr>
          </a:p>
        </p:txBody>
      </p:sp>
      <p:sp>
        <p:nvSpPr>
          <p:cNvPr id="8" name="Text 5"/>
          <p:cNvSpPr/>
          <p:nvPr/>
        </p:nvSpPr>
        <p:spPr>
          <a:xfrm>
            <a:off x="4782312" y="1392806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zh-TW" alt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當日 投注人數</a:t>
            </a:r>
            <a:r>
              <a:rPr lang="en-US" altLang="zh-TW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</a:t>
            </a:r>
            <a:r>
              <a:rPr lang="zh-TW" alt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下注額度</a:t>
            </a:r>
            <a:r>
              <a:rPr lang="en-US" altLang="zh-TW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</a:t>
            </a:r>
            <a:r>
              <a:rPr lang="zh-TW" alt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盈虧</a:t>
            </a:r>
            <a:r>
              <a:rPr lang="en-US" altLang="zh-TW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</a:t>
            </a:r>
            <a:r>
              <a:rPr lang="zh-TW" alt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風控阻擋人數 統計數據，包含與前日對比的數據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4782312" y="1878381"/>
            <a:ext cx="4114800" cy="9144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10" name="Text 7"/>
          <p:cNvSpPr/>
          <p:nvPr/>
        </p:nvSpPr>
        <p:spPr>
          <a:xfrm>
            <a:off x="4764024" y="2075371"/>
            <a:ext cx="411480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zh-TW" altLang="en-US" sz="115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最近</a:t>
            </a:r>
            <a:r>
              <a:rPr lang="en-US" altLang="zh-TW" sz="115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r>
              <a:rPr lang="zh-TW" altLang="en-US" sz="115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天的分類投注趨勢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4764024" y="2895615"/>
            <a:ext cx="4114800" cy="9144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13" name="Text 10"/>
          <p:cNvSpPr/>
          <p:nvPr/>
        </p:nvSpPr>
        <p:spPr>
          <a:xfrm>
            <a:off x="4754880" y="3045018"/>
            <a:ext cx="411480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zh-TW" altLang="en-US" sz="115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風控與黑名單攔截分析</a:t>
            </a:r>
            <a:endParaRPr lang="en-US" sz="1150" dirty="0"/>
          </a:p>
        </p:txBody>
      </p:sp>
      <p:sp>
        <p:nvSpPr>
          <p:cNvPr id="14" name="Text 11"/>
          <p:cNvSpPr/>
          <p:nvPr/>
        </p:nvSpPr>
        <p:spPr>
          <a:xfrm>
            <a:off x="4779264" y="3256029"/>
            <a:ext cx="4066032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zh-TW" alt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針對所有攔截員因顯示統計數據與佔比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4782312" y="3777237"/>
            <a:ext cx="4114800" cy="9144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24" name="Text 10">
            <a:extLst>
              <a:ext uri="{FF2B5EF4-FFF2-40B4-BE49-F238E27FC236}">
                <a16:creationId xmlns:a16="http://schemas.microsoft.com/office/drawing/2014/main" id="{7945C551-95C9-4897-B5FA-6A2A19F1ECDF}"/>
              </a:ext>
            </a:extLst>
          </p:cNvPr>
          <p:cNvSpPr/>
          <p:nvPr/>
        </p:nvSpPr>
        <p:spPr>
          <a:xfrm>
            <a:off x="4782312" y="3887198"/>
            <a:ext cx="411480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zh-TW" altLang="en-US" sz="115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排行榜</a:t>
            </a:r>
            <a:endParaRPr lang="en-US" sz="1150" dirty="0"/>
          </a:p>
        </p:txBody>
      </p:sp>
      <p:sp>
        <p:nvSpPr>
          <p:cNvPr id="26" name="Text 11">
            <a:extLst>
              <a:ext uri="{FF2B5EF4-FFF2-40B4-BE49-F238E27FC236}">
                <a16:creationId xmlns:a16="http://schemas.microsoft.com/office/drawing/2014/main" id="{50976344-C4ED-4E42-99CD-74B29829F4C0}"/>
              </a:ext>
            </a:extLst>
          </p:cNvPr>
          <p:cNvSpPr/>
          <p:nvPr/>
        </p:nvSpPr>
        <p:spPr>
          <a:xfrm>
            <a:off x="4782312" y="4124942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zh-TW" alt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依照盤口熱度顯示前</a:t>
            </a:r>
            <a:r>
              <a:rPr lang="en-US" altLang="zh-TW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r>
              <a:rPr lang="zh-TW" alt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名的排行</a:t>
            </a:r>
            <a:endParaRPr lang="en-US" sz="1000" dirty="0"/>
          </a:p>
        </p:txBody>
      </p:sp>
      <p:pic>
        <p:nvPicPr>
          <p:cNvPr id="28" name="圖片 27">
            <a:extLst>
              <a:ext uri="{FF2B5EF4-FFF2-40B4-BE49-F238E27FC236}">
                <a16:creationId xmlns:a16="http://schemas.microsoft.com/office/drawing/2014/main" id="{435C3CB9-B25B-4144-A771-8F2253637F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113" y="605706"/>
            <a:ext cx="4586183" cy="4389120"/>
          </a:xfrm>
          <a:prstGeom prst="rect">
            <a:avLst/>
          </a:prstGeom>
        </p:spPr>
      </p:pic>
      <p:sp>
        <p:nvSpPr>
          <p:cNvPr id="29" name="Text 5">
            <a:extLst>
              <a:ext uri="{FF2B5EF4-FFF2-40B4-BE49-F238E27FC236}">
                <a16:creationId xmlns:a16="http://schemas.microsoft.com/office/drawing/2014/main" id="{0E7BED27-8F73-4B4C-A2CB-EA6DA1FCB9C3}"/>
              </a:ext>
            </a:extLst>
          </p:cNvPr>
          <p:cNvSpPr/>
          <p:nvPr/>
        </p:nvSpPr>
        <p:spPr>
          <a:xfrm>
            <a:off x="4754880" y="2356236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zh-TW" alt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針對各分類的下注人數與下注總額趨勢，觀察會員偏好與盤口熱度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178</TotalTime>
  <Words>487</Words>
  <Application>Microsoft Office PowerPoint</Application>
  <PresentationFormat>如螢幕大小 (16:9)</PresentationFormat>
  <Paragraphs>116</Paragraphs>
  <Slides>8</Slides>
  <Notes>7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8</vt:i4>
      </vt:variant>
    </vt:vector>
  </HeadingPairs>
  <TitlesOfParts>
    <vt:vector size="14" baseType="lpstr">
      <vt:lpstr>Microsoft JhengHei</vt:lpstr>
      <vt:lpstr>Microsoft JhengHei</vt:lpstr>
      <vt:lpstr>新細明體</vt:lpstr>
      <vt:lpstr>Arial</vt:lpstr>
      <vt:lpstr>Calibri</vt:lpstr>
      <vt:lpstr>Office Theme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兌換碼功能規劃</dc:title>
  <dc:subject>PptxGenJS Presentation</dc:subject>
  <dc:creator>PptxGenJS</dc:creator>
  <cp:lastModifiedBy>USER</cp:lastModifiedBy>
  <cp:revision>24</cp:revision>
  <dcterms:created xsi:type="dcterms:W3CDTF">2026-07-03T07:59:00Z</dcterms:created>
  <dcterms:modified xsi:type="dcterms:W3CDTF">2026-08-26T18:40:38Z</dcterms:modified>
</cp:coreProperties>
</file>